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7.png"/><Relationship Id="rId10" Type="http://schemas.openxmlformats.org/officeDocument/2006/relationships/image" Target="../media/image20.png"/><Relationship Id="rId11" Type="http://schemas.openxmlformats.org/officeDocument/2006/relationships/image" Target="../media/image9.png"/><Relationship Id="rId1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80" y="1188720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24728" y="1188720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801368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720000">
            <a:off x="5824728" y="1801368"/>
            <a:ext cx="502920" cy="502920"/>
          </a:xfrm>
          <a:prstGeom prst="roundRect">
            <a:avLst/>
          </a:prstGeom>
          <a:solidFill>
            <a:srgbClr val="5EE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88036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E8EDF4"/>
                </a:solidFill>
                <a:latin typeface="맑은 고딕"/>
              </a:rPr>
              <a:t>딱 하나 이상함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94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8A94A6"/>
                </a:solidFill>
                <a:latin typeface="맑은 고딕"/>
              </a:rPr>
              <a:t>여러 개 중 딱 하나 다른 것을 찾는 브라우저 관찰력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5262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EE6C5"/>
                </a:solidFill>
                <a:latin typeface="맑은 고딕"/>
              </a:rPr>
              <a:t>「내가 설계한 미니게임」 과제 제출 · 발표자료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9436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https://stulss.github.io/odd-one-out/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https://github.com/stulss/odd-one-out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격자 안 도형 여럿 중 딱 하나만 색·크기·회전 등이 미묘하게 다름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제한 시간 안에 찾아 선택 → 다음 단계, 시간 초과 시 종료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8A94A6"/>
                </a:solidFill>
                <a:latin typeface="맑은 고딕"/>
              </a:rPr>
              <a:t>· 차이 축 10종 · 도형 4종 · 격자 상한 4×6(24칸)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프레임워크·이미지·음원 파일 없이 순수 HTML/CSS/JS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8A94A6"/>
                </a:solidFill>
                <a:latin typeface="맑은 고딕"/>
              </a:rPr>
              <a:t>· 소스 전체 80KB · 라이브러리 0개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같은 링크 = 같은 문제 (시드 난수, 서버 없음)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규칙·조작·상태
상시 표시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78892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조작 1회 =
결과 1회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84048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다시 시작
= 초기화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89204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음소거·움직임
줄이기 작동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과제 완료기준 4항목 — 전부 충족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기능 안내서 — 플레이 방법과 전체 기능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108960"/>
                <a:gridCol w="6217920"/>
              </a:tblGrid>
              <a:tr h="49784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E8EDF4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E8EDF4"/>
                          </a:solidFill>
                          <a:latin typeface="맑은 고딕"/>
                        </a:rPr>
                        <a:t>기능 / 조작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E8EDF4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다른 하나 찾기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격자 안 도형 여럿 중 색·크기·회전 등이 미묘하게 다른 딱 하나를 제한 시간 안에 선택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조작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클릭·탭·방향키+Enter · P(일시정지)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마우스·터치·키보드만으로 완주 가능, 화면 이탈(blur) 시 자동 일시정지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진행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정답 → 다음 단계 / 오답 → 시간 1초 차감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오답은 즉시 게임오버가 아님 — 흔들림 효과 후 계속 진행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오늘의 문제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/?d=20260818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KST 자정 기준 하루 1문제 — 전 세계 누구나 같은 문제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도전장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/?c=K3F9QZ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친구와 완전히 동일한 문제를 공유, 상대 기록(&amp;s=12) 배너 표시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소리·움직임 줄이기·진동·색약 모드·난이도(T)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클릭 즉시 반영, 재시작 불필요, 새로고침 후에도 유지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기록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최고 단계·점수·연속 출석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localStorage 저장, 값이 손상돼도 자동으로 기본값 복구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결과 공유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결과 공유 버튼 1회 클릭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네이티브 공유 → 클립보드 이미지 복사 → 폴백 3버튼 순으로 시도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1 · 30초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조작 1회 = 결과 1회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플레이어는 격자 칸을 조작해 다른 하나를 선택하면 성공,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제한 시간이 0이 되면 실패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정답: 팝 애니메이션 + 점수 상승 + 다음 단계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오답: 흔들림 + 남은 시간 1초 차감 (즉사 아님)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화면 하단 3줄 상시 표시 — 규칙 · 조작 · 현재 상태</a:t>
            </a:r>
          </a:p>
        </p:txBody>
      </p:sp>
      <p:pic>
        <p:nvPicPr>
          <p:cNvPr id="8" name="Picture 7" descr="01_start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91640"/>
            <a:ext cx="1534058" cy="33198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게임 시작</a:t>
            </a:r>
          </a:p>
        </p:txBody>
      </p:sp>
      <p:pic>
        <p:nvPicPr>
          <p:cNvPr id="10" name="Picture 9" descr="02_correc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3458" y="1691640"/>
            <a:ext cx="1534058" cy="33198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80578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정답 → 다음 단계</a:t>
            </a:r>
          </a:p>
        </p:txBody>
      </p:sp>
      <p:pic>
        <p:nvPicPr>
          <p:cNvPr id="12" name="Picture 11" descr="03_wrong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7556" y="1691640"/>
            <a:ext cx="1534058" cy="33198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34676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오답 → 시간 차감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TECH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게임 엔진을 쓰지 않은 이유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>
                <a:solidFill>
                  <a:srgbClr val="E8EDF4"/>
                </a:solidFill>
                <a:latin typeface="맑은 고딕"/>
              </a:rPr>
              <a:t>“이 게임의 화면은 정지된 도형 격자 + 한 번의 입력이다.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8EDF4"/>
                </a:solidFill>
                <a:latin typeface="맑은 고딕"/>
              </a:rPr>
              <a:t>렌더 루프가 필요 없는 게임에 엔진을 쓰면 엔진의 비용만 남고 이득은 0이다.”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432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560320"/>
                <a:gridCol w="256032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후보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최소 전송 크기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첫 플레이까지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판단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Vanilla + DOM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25KB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0.8초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PixiJS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140KB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1.8초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과함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Phaser 3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450KB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3.0초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목표 위반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Unity WebGL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15MB+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15초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치명적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2578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DF4"/>
                </a:solidFill>
                <a:latin typeface="맑은 고딕"/>
              </a:rPr>
              <a:t>▸ 이미지 파일 0개 — 미묘한 차이를 1px·3° 단위로 정확히 제어해야 난이도가 성립.</a:t>
            </a:r>
          </a:p>
          <a:p>
            <a:pPr lvl="1">
              <a:spcAft>
                <a:spcPts val="1000"/>
              </a:spcAft>
            </a:pPr>
            <a:r>
              <a:rPr sz="1300">
                <a:solidFill>
                  <a:srgbClr val="8A94A6"/>
                </a:solidFill>
                <a:latin typeface="맑은 고딕"/>
              </a:rPr>
              <a:t>· 래스터 이미지는 축소 과정에서 차이가 뭉개지거나 노이즈가 생겨 불공정한 실패를 만든다.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13개 모듈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game.js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상태 머신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2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rng.js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시드 난수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stage.js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스테이지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1976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render.js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DOM 그리드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input.js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입력 처리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timer.js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rAF 루프 1개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save.js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손상 복구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1976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daily.js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오늘의 문제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card.js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결과 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share.js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공유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audio.js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합성음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logger.js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플레이 기록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▸ 설계 원칙 3가지 — rAF 루프 앱 전체 1개 · DOM 노드 최초 1회 생성 후 재사용 · 현재 판 상태는 저장하지 않음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같은 링크인데 기기마다 다른 문제가 나왔다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격자 칸 수를 화면 크기에 맞춰 계산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1280px → 6×8=48칸, 375px → 4×6=24칸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정답 인덱스까지 달라짐 → '오늘의 문제' 성립 불가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그리드를 스테이지 번호로만 결정 (화면 크기 무관)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상한 4×6=24칸 고정 (360px에서도 44px 터치 보장)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같은 시드 25스테이지 → 완전 일치 (실측)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되돌리기 비싼 결함일수록 일찍 찾아야 한다 — 수정 규모는 코드 3줄이었다.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통과하던 검사가 사실 아무것도 검사하지 않고 있었다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가로 넘침 검사: scrollWidth &gt; innerWidth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CSS에 overflow-x:hidden이 걸려 있어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넘쳐도 항상 false → '검사 통과'가 거짓 신호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게임판 좌표를 뷰포트 경계와 직접 비교하도록 변경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390×844에서 11스테이지 전 구간 재측정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게임판 16~374px, 실제로 넘침 없음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초록불을 믿기 전에 그 검사가 빨간불이 될 수 있는지 먼저 확인해야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화면에 내놓은 난이도 손잡이가 거의 작동하지 않았다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난이도 T를 '제한 시간' 계수에만 연결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자동 플레이 30판: T 3.6→5.4(50%↑)에도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도달 단계 중앙값 21.5→20.0 (1.5단계 차이뿐)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원인: 시간이 부족해지는 시점(30단계)이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판이 끝나는 시점(20~25단계)보다 늦었다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손잡이를 '차이 곡선'으로 이동 → 18~25%p 차이로 개선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값을 만들었으면 흔들어보고 결과가 실제로 움직이는지 재봐야 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2 · PC 숨은 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검사표 — 7/7 통과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3736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657600"/>
                <a:gridCol w="32918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검사 조건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예상 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실제 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1366×768 (최악 격자 4×6)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잘림·가로 넘침 없음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넘침 0, 셀 90px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1920×1080 (최악 격자 4×6)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게임판 유지, 여백만 증가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넘침 0, 셀 132px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1366↔1920 창 크기 변경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레이아웃 즉시 재계산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리사이즈 즉시 반영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1초에 10회 연속 클릭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조작 1회 = 결과 1회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정확히 1스테이지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blur(포커스 이탈)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자동 일시정지, 시간 보존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즉시 전환·재개 확인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P키 일시정지 → 재개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타이머 정지·복원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오차 없이 이어짐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10분 연속 실행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FPS 유지·메모리 증가 없음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PASS (다음 슬라이드)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2 · 10분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10분 연속 자동 진행 —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000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073" y="1691640"/>
            <a:ext cx="1478857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75193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0분</a:t>
            </a:r>
          </a:p>
        </p:txBody>
      </p:sp>
      <p:pic>
        <p:nvPicPr>
          <p:cNvPr id="9" name="Picture 8" descr="t180_3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970" y="1691640"/>
            <a:ext cx="1478857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4090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3분</a:t>
            </a:r>
          </a:p>
        </p:txBody>
      </p:sp>
      <p:pic>
        <p:nvPicPr>
          <p:cNvPr id="11" name="Picture 10" descr="t360_6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5867" y="1691640"/>
            <a:ext cx="1478857" cy="3200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72987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6분</a:t>
            </a:r>
          </a:p>
        </p:txBody>
      </p:sp>
      <p:pic>
        <p:nvPicPr>
          <p:cNvPr id="13" name="Picture 12" descr="t600_10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764" y="1691640"/>
            <a:ext cx="1478857" cy="3200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71884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10분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DOM 노드
112 → 112
증가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JS 힙
9.54MB → 9.54MB
증가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프레임 드랍
0 / 6002
0.00%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콘솔 오류
0건
10분 내내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3 · 데이터 기반 조정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난이도 T 전/후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FB454"/>
                </a:solidFill>
                <a:latin typeface="맑은 고딕"/>
              </a:rPr>
              <a:t>⚠ 자동 플레이 데이터입니다 — 사람 반응·피로가 빠져 있음을 숨기지 않고 명시합니다.</a:t>
            </a:r>
          </a:p>
        </p:txBody>
      </p:sp>
      <p:pic>
        <p:nvPicPr>
          <p:cNvPr id="8" name="Picture 7" descr="settings_T4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1330972" cy="2880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T = 4.4 (기존값)</a:t>
            </a:r>
          </a:p>
        </p:txBody>
      </p:sp>
      <p:pic>
        <p:nvPicPr>
          <p:cNvPr id="10" name="Picture 9" descr="result_T4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3972" y="2148840"/>
            <a:ext cx="1330972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291092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결과 (T=4.4)</a:t>
            </a:r>
          </a:p>
        </p:txBody>
      </p:sp>
      <p:pic>
        <p:nvPicPr>
          <p:cNvPr id="12" name="Picture 11" descr="settings_T5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4984" y="2148840"/>
            <a:ext cx="1330972" cy="2880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42104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T = 5.4 (비교값)</a:t>
            </a:r>
          </a:p>
        </p:txBody>
      </p:sp>
      <p:pic>
        <p:nvPicPr>
          <p:cNvPr id="14" name="Picture 13" descr="result_T5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5996" y="2148840"/>
            <a:ext cx="133097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93116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결과 (T=5.4)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778240" y="2194560"/>
          <a:ext cx="27432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T=4.4 (전)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T=5.4 (후)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도달 단계 중앙값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21.0단계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20.0단계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생존 시간 중앙값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27.9초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25.4초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778240" y="3566160"/>
            <a:ext cx="2743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최종값: T=4.4 유지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단계 차이는 작지만 내부 지표(지각 여유)로는 20~25단계 구간에서 18~25%p 차이 확인.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4 · 저장과 복구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손상값 6종 — 전부 기본값 복구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정상값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0592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빈 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"abc" (글자만)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71616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필수 항목 누락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8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타입 오류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배열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3464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현재 판(점수·스테이지·타이머)은 저장하지 않는다 → 새 게임에서 자동 초기화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초기화 로직을 따로 만들면 반드시 빠뜨리는 항목이 생긴다는 판단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최고 기록·설정만 별도 키로 보존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저장값이 6가지 방식으로 깨져도 콘솔 오류 0건, 항상 기본값으로 정상 실행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5 · 손맛과 선택권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효과 + 접근성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정답 선택 시 팝 애니메이션 + 효과음(WebAudio 합성, 파일 0개)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음소거 → 클릭 즉시 무음 전환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움직임 줄이기 → 흔들림·팝 대신 색 점멸로 대체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효과를 완전히 없애지 않는 이유: 사건 인지 자체는 유지해야 하기 때문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설정은 즉시 반영, 재시작 불필요</a:t>
            </a:r>
          </a:p>
        </p:txBody>
      </p:sp>
      <p:pic>
        <p:nvPicPr>
          <p:cNvPr id="8" name="Picture 7" descr="06_sound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1943641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소리 끄기</a:t>
            </a:r>
          </a:p>
        </p:txBody>
      </p:sp>
      <p:pic>
        <p:nvPicPr>
          <p:cNvPr id="10" name="Picture 9" descr="07_motion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121" y="1691640"/>
            <a:ext cx="1943641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0241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움직임 줄이기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결과 공유 — 클릭 한 번, 이미지 즉시 복사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[결과 공유] 클릭 시 우선순위: 네이티브 공유 → 클립보드 이미지 복사 → 폴백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데스크탑 대부분은 navigator.share가 없어 예전엔 매번 폴백 3버튼만 노출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이제는 결과 카드 이미지를 클립보드에 바로 복사 → Ctrl+V로 즉시 붙여넣기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텍스트(링크)도 같은 클립보드 항목에 함께 담아 이미지 미지원 대상에도 대응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부수 발견: #fallback에 [hidden] CSS 누락 — 공유 전에도 폴백 버튼이 항상 보이던 버그 수정</a:t>
            </a:r>
          </a:p>
        </p:txBody>
      </p:sp>
      <p:pic>
        <p:nvPicPr>
          <p:cNvPr id="8" name="Picture 7" descr="09_sha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1943641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네이티브 공유 없음</a:t>
            </a:r>
          </a:p>
        </p:txBody>
      </p:sp>
      <p:pic>
        <p:nvPicPr>
          <p:cNvPr id="10" name="Picture 9" descr="10_copytex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121" y="1691640"/>
            <a:ext cx="1943641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0241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복사 안내 문구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AI 3줄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맡긴 일 · 판단한 일 · 말을 안 들은 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AI에게 맡긴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9164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코드 전체(13개 모듈) 작성과 검증 실행 — 시드 재현성·저장 손상 6종·연타 방지·해상도 등을 직접 측정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5468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내가 판단한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10896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배포처를 Cloudflare→GitHub Pages로 변경, 단계별 폴더 구성, 스크린샷 3상태 규칙, STEP 6 중단 판단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AI 말을 안 들은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52628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step2 스크린샷 오류를 직접 열어보고 발견, 제출용 PDF에서 빠진 항목 5개를 찾아냄, 자동 플레이 데이터 오남용 방지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실제로 겪은 문제 8건 중 대표 사례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같은 실수를 세 번 반복 — step2 재촬영 누락 · PDF 스크린샷 5개 누락 · 이모지 깨짐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세 번 다 AI가 아니라 실제로 파일을 열어본 사람이 찾아냈다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촬영 도구가 지정 해상도를 무시 → 헤드리스 Chrome CLI에서 Playwright로 교체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Playwright 도입으로 첫화면/진행중/종료 3상태 촬영까지 함께 가능해짐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제출용 PDF에서 이모지가 네모 상자로 깨짐 → 버튼 라벨에서 이모지 제거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'내 환경에선 정상'은 제출 증거에서는 판단 기준이 될 수 없다는 교훈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FINAL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제출 준비 완료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194560" y="1737360"/>
          <a:ext cx="7772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468880"/>
                <a:gridCol w="11887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카드 1~5 통과 기준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5/5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학생 자체 점검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11/11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콘솔 오류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0건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개인정보·비밀값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0건 (실질)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10분 연속 실행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DOM·힙 증가 0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제출물(검증안내서·AI3줄)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작성 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필수 체크리스트 · 증거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학생 자체 점검 — 스크린샷 증거 (1~6)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1. 시작→종료→재시작</a:t>
            </a:r>
          </a:p>
        </p:txBody>
      </p:sp>
      <p:pic>
        <p:nvPicPr>
          <p:cNvPr id="9" name="Picture 8" descr="01_start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75" y="2057400"/>
            <a:ext cx="845061" cy="1828800"/>
          </a:xfrm>
          <a:prstGeom prst="rect">
            <a:avLst/>
          </a:prstGeom>
        </p:spPr>
      </p:pic>
      <p:pic>
        <p:nvPicPr>
          <p:cNvPr id="10" name="Picture 9" descr="08_gameover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864" y="2057400"/>
            <a:ext cx="845061" cy="1828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5196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2. 성공·실패 상태 구분</a:t>
            </a:r>
          </a:p>
        </p:txBody>
      </p:sp>
      <p:pic>
        <p:nvPicPr>
          <p:cNvPr id="13" name="Picture 12" descr="02_correct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835" y="2057400"/>
            <a:ext cx="845061" cy="1828800"/>
          </a:xfrm>
          <a:prstGeom prst="rect">
            <a:avLst/>
          </a:prstGeom>
        </p:spPr>
      </p:pic>
      <p:pic>
        <p:nvPicPr>
          <p:cNvPr id="14" name="Picture 13" descr="03_wrong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2057400"/>
            <a:ext cx="845061" cy="1828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04672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3. 2해상도 잘림·넘침 없음</a:t>
            </a:r>
          </a:p>
        </p:txBody>
      </p:sp>
      <p:pic>
        <p:nvPicPr>
          <p:cNvPr id="17" name="Picture 16" descr="resolution_1366x76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9" y="2057400"/>
            <a:ext cx="1664613" cy="935888"/>
          </a:xfrm>
          <a:prstGeom prst="rect">
            <a:avLst/>
          </a:prstGeom>
        </p:spPr>
      </p:pic>
      <p:pic>
        <p:nvPicPr>
          <p:cNvPr id="18" name="Picture 17" descr="resolution_1920x108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0790" y="2057400"/>
            <a:ext cx="1663800" cy="93588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5720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4. 연속입력·포커스·10분</a:t>
            </a:r>
          </a:p>
        </p:txBody>
      </p:sp>
      <p:pic>
        <p:nvPicPr>
          <p:cNvPr id="21" name="Picture 20" descr="04_pause_aft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86075" y="4590288"/>
            <a:ext cx="845061" cy="1828800"/>
          </a:xfrm>
          <a:prstGeom prst="rect">
            <a:avLst/>
          </a:prstGeom>
        </p:spPr>
      </p:pic>
      <p:pic>
        <p:nvPicPr>
          <p:cNvPr id="22" name="Picture 21" descr="t600_10m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40864" y="4590288"/>
            <a:ext cx="845061" cy="18288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25196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5. 콘솔 빨간 오류 0건</a:t>
            </a:r>
          </a:p>
        </p:txBody>
      </p:sp>
      <p:pic>
        <p:nvPicPr>
          <p:cNvPr id="25" name="Picture 24" descr="콘솔오류확인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49672" y="4590288"/>
            <a:ext cx="3062176" cy="1645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61688" y="626364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A94A6"/>
                </a:solidFill>
                <a:latin typeface="맑은 고딕"/>
              </a:rPr>
              <a:t>사용자 직접 확인 · 최고 16단계·3,242점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644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6. 난이도 전/후 10+10</a:t>
            </a:r>
          </a:p>
        </p:txBody>
      </p:sp>
      <p:pic>
        <p:nvPicPr>
          <p:cNvPr id="29" name="Picture 28" descr="result_T4_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75595" y="4590288"/>
            <a:ext cx="845061" cy="1828800"/>
          </a:xfrm>
          <a:prstGeom prst="rect">
            <a:avLst/>
          </a:prstGeom>
        </p:spPr>
      </p:pic>
      <p:pic>
        <p:nvPicPr>
          <p:cNvPr id="30" name="Picture 29" descr="result_T5_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30384" y="4590288"/>
            <a:ext cx="84506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필수 체크리스트 · 증거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학생 자체 점검 — 스크린샷 증거 (7~11)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7. 손상값 → 기본값 실행</a:t>
            </a:r>
          </a:p>
        </p:txBody>
      </p:sp>
      <p:pic>
        <p:nvPicPr>
          <p:cNvPr id="9" name="Picture 8" descr="storage_before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75" y="2057400"/>
            <a:ext cx="845061" cy="1828800"/>
          </a:xfrm>
          <a:prstGeom prst="rect">
            <a:avLst/>
          </a:prstGeom>
        </p:spPr>
      </p:pic>
      <p:pic>
        <p:nvPicPr>
          <p:cNvPr id="10" name="Picture 9" descr="storage_after_corrupted_still_wor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864" y="2057400"/>
            <a:ext cx="845061" cy="1828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5196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8. 재시작=초기화, 기록 유지</a:t>
            </a:r>
          </a:p>
        </p:txBody>
      </p:sp>
      <p:pic>
        <p:nvPicPr>
          <p:cNvPr id="13" name="Picture 12" descr="13_restart_bef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835" y="2057400"/>
            <a:ext cx="845061" cy="1828800"/>
          </a:xfrm>
          <a:prstGeom prst="rect">
            <a:avLst/>
          </a:prstGeom>
        </p:spPr>
      </p:pic>
      <p:pic>
        <p:nvPicPr>
          <p:cNvPr id="14" name="Picture 13" descr="13_restart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2057400"/>
            <a:ext cx="845061" cy="1828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04672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9. 효과 줄이기·끄기 작동</a:t>
            </a:r>
          </a:p>
        </p:txBody>
      </p:sp>
      <p:pic>
        <p:nvPicPr>
          <p:cNvPr id="17" name="Picture 16" descr="06_sound_af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5595" y="2057400"/>
            <a:ext cx="845061" cy="1828800"/>
          </a:xfrm>
          <a:prstGeom prst="rect">
            <a:avLst/>
          </a:prstGeom>
        </p:spPr>
      </p:pic>
      <p:pic>
        <p:nvPicPr>
          <p:cNvPr id="18" name="Picture 17" descr="07_motion_af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0384" y="2057400"/>
            <a:ext cx="845061" cy="18288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5720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10. 개인정보·비밀값 0건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360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A94A6"/>
                </a:solidFill>
                <a:latin typeface="맑은 고딕"/>
              </a:rPr>
              <a:t>저장소 전수 grep 검사 — stulss(공개 계정명) 외 유출 0건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11. 위 1~10 모두 완료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46360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A94A6"/>
                </a:solidFill>
                <a:latin typeface="맑은 고딕"/>
              </a:rPr>
              <a:t>카드 1~5 통과기준 5/5 · 학생 자체 점검 11/11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E8EDF4"/>
                </a:solidFill>
                <a:latin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5EE6C5"/>
                </a:solidFill>
                <a:latin typeface="맑은 고딕"/>
              </a:rPr>
              <a:t>▶ 플레이: https://stulss.github.io/odd-one-out/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8A94A6"/>
                </a:solidFill>
                <a:latin typeface="맑은 고딕"/>
              </a:rPr>
              <a:t>소스: https://github.com/stulss/odd-one-out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