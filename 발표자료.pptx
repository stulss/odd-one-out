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7.png"/><Relationship Id="rId10" Type="http://schemas.openxmlformats.org/officeDocument/2006/relationships/image" Target="../media/image20.png"/><Relationship Id="rId11" Type="http://schemas.openxmlformats.org/officeDocument/2006/relationships/image" Target="../media/image9.png"/><Relationship Id="rId1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4A6"/>
                </a:solidFill>
                <a:latin typeface="맑은 고딕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80" y="1188720"/>
            <a:ext cx="502920" cy="502920"/>
          </a:xfrm>
          <a:prstGeom prst="roundRect">
            <a:avLst/>
          </a:prstGeom>
          <a:solidFill>
            <a:srgbClr val="3D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24728" y="1188720"/>
            <a:ext cx="502920" cy="502920"/>
          </a:xfrm>
          <a:prstGeom prst="roundRect">
            <a:avLst/>
          </a:prstGeom>
          <a:solidFill>
            <a:srgbClr val="3D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212080" y="1801368"/>
            <a:ext cx="502920" cy="502920"/>
          </a:xfrm>
          <a:prstGeom prst="roundRect">
            <a:avLst/>
          </a:prstGeom>
          <a:solidFill>
            <a:srgbClr val="3D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 rot="720000">
            <a:off x="5824728" y="1801368"/>
            <a:ext cx="502920" cy="502920"/>
          </a:xfrm>
          <a:prstGeom prst="roundRect">
            <a:avLst/>
          </a:prstGeom>
          <a:solidFill>
            <a:srgbClr val="5EE6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88036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E8EDF4"/>
                </a:solidFill>
                <a:latin typeface="맑은 고딕"/>
              </a:rPr>
              <a:t>딱 하나 이상함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7947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8A94A6"/>
                </a:solidFill>
                <a:latin typeface="맑은 고딕"/>
              </a:rPr>
              <a:t>여러 개 중 딱 하나 다른 것을 찾는 브라우저 관찰력 게임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5262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EE6C5"/>
                </a:solidFill>
                <a:latin typeface="맑은 고딕"/>
              </a:rPr>
              <a:t>「내가 설계한 미니게임」 과제 제출 · 발표자료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9436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8A94A6"/>
                </a:solidFill>
                <a:latin typeface="맑은 고딕"/>
              </a:rPr>
              <a:t>https://stulss.github.io/odd-one-out/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8A94A6"/>
                </a:solidFill>
                <a:latin typeface="맑은 고딕"/>
              </a:rPr>
              <a:t>https://github.com/stulss/odd-one-out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4A6"/>
                </a:solidFill>
                <a:latin typeface="맑은 고딕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EE6C5"/>
                </a:solidFill>
                <a:latin typeface="맑은 고딕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8EDF4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25400"/>
          </a:xfrm>
          <a:prstGeom prst="rect">
            <a:avLst/>
          </a:prstGeom>
          <a:solidFill>
            <a:srgbClr val="23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E8EDF4"/>
                </a:solidFill>
                <a:latin typeface="맑은 고딕"/>
              </a:rPr>
              <a:t>▸ 격자 안 도형 여럿 중 딱 하나만 색·크기·회전 등이 미묘하게 다름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8EDF4"/>
                </a:solidFill>
                <a:latin typeface="맑은 고딕"/>
              </a:rPr>
              <a:t>▸ 제한 시간 안에 찾아 선택 → 다음 단계, 시간 초과 시 종료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8A94A6"/>
                </a:solidFill>
                <a:latin typeface="맑은 고딕"/>
              </a:rPr>
              <a:t>· 차이 축 10종 · 도형 4종 · 격자 상한 4×6(24칸)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8EDF4"/>
                </a:solidFill>
                <a:latin typeface="맑은 고딕"/>
              </a:rPr>
              <a:t>▸ 프레임워크·이미지·음원 파일 없이 순수 HTML/CSS/JS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8A94A6"/>
                </a:solidFill>
                <a:latin typeface="맑은 고딕"/>
              </a:rPr>
              <a:t>· 소스 전체 80KB · 라이브러리 0개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8EDF4"/>
                </a:solidFill>
                <a:latin typeface="맑은 고딕"/>
              </a:rPr>
              <a:t>▸ 같은 링크 = 같은 문제 (시드 난수, 서버 없음)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5120640" cy="86868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>
                <a:solidFill>
                  <a:srgbClr val="5EE6C5"/>
                </a:solidFill>
                <a:latin typeface="맑은 고딕"/>
              </a:rPr>
              <a:t>규칙·조작·상태
상시 표시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788920"/>
            <a:ext cx="5120640" cy="86868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>
                <a:solidFill>
                  <a:srgbClr val="5EE6C5"/>
                </a:solidFill>
                <a:latin typeface="맑은 고딕"/>
              </a:rPr>
              <a:t>조작 1회 =
결과 1회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840480"/>
            <a:ext cx="5120640" cy="86868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>
                <a:solidFill>
                  <a:srgbClr val="5EE6C5"/>
                </a:solidFill>
                <a:latin typeface="맑은 고딕"/>
              </a:rPr>
              <a:t>다시 시작
= 초기화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892040"/>
            <a:ext cx="5120640" cy="86868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>
                <a:solidFill>
                  <a:srgbClr val="5EE6C5"/>
                </a:solidFill>
                <a:latin typeface="맑은 고딕"/>
              </a:rPr>
              <a:t>음소거·움직임
줄이기 작동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A94A6"/>
                </a:solidFill>
                <a:latin typeface="맑은 고딕"/>
              </a:rPr>
              <a:t>과제 완료기준 4항목 — 전부 충족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4A6"/>
                </a:solidFill>
                <a:latin typeface="맑은 고딕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EE6C5"/>
                </a:solidFill>
                <a:latin typeface="맑은 고딕"/>
              </a:rPr>
              <a:t>CARD 1 · 30초 규칙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8EDF4"/>
                </a:solidFill>
                <a:latin typeface="맑은 고딕"/>
              </a:rPr>
              <a:t>조작 1회 = 결과 1회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25400"/>
          </a:xfrm>
          <a:prstGeom prst="rect">
            <a:avLst/>
          </a:prstGeom>
          <a:solidFill>
            <a:srgbClr val="23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8EDF4"/>
                </a:solidFill>
                <a:latin typeface="맑은 고딕"/>
              </a:rPr>
              <a:t>▸ 플레이어는 격자 칸을 조작해 다른 하나를 선택하면 성공,</a:t>
            </a:r>
          </a:p>
          <a:p>
            <a:pPr lvl="1">
              <a:spcAft>
                <a:spcPts val="1000"/>
              </a:spcAft>
            </a:pPr>
            <a:r>
              <a:rPr sz="1600">
                <a:solidFill>
                  <a:srgbClr val="8A94A6"/>
                </a:solidFill>
                <a:latin typeface="맑은 고딕"/>
              </a:rPr>
              <a:t>· 제한 시간이 0이 되면 실패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DF4"/>
                </a:solidFill>
                <a:latin typeface="맑은 고딕"/>
              </a:rPr>
              <a:t>▸ 정답: 팝 애니메이션 + 점수 상승 + 다음 단계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DF4"/>
                </a:solidFill>
                <a:latin typeface="맑은 고딕"/>
              </a:rPr>
              <a:t>▸ 오답: 흔들림 + 남은 시간 1초 차감 (즉사 아님)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DF4"/>
                </a:solidFill>
                <a:latin typeface="맑은 고딕"/>
              </a:rPr>
              <a:t>▸ 화면 하단 3줄 상시 표시 — 규칙 · 조작 · 현재 상태</a:t>
            </a:r>
          </a:p>
        </p:txBody>
      </p:sp>
      <p:pic>
        <p:nvPicPr>
          <p:cNvPr id="8" name="Picture 7" descr="01_start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91640"/>
            <a:ext cx="1534058" cy="33198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5066363"/>
            <a:ext cx="18998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8A94A6"/>
                </a:solidFill>
                <a:latin typeface="맑은 고딕"/>
              </a:rPr>
              <a:t>게임 시작</a:t>
            </a:r>
          </a:p>
        </p:txBody>
      </p:sp>
      <p:pic>
        <p:nvPicPr>
          <p:cNvPr id="10" name="Picture 9" descr="02_correct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3458" y="1691640"/>
            <a:ext cx="1534058" cy="331985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80578" y="5066363"/>
            <a:ext cx="18998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8A94A6"/>
                </a:solidFill>
                <a:latin typeface="맑은 고딕"/>
              </a:rPr>
              <a:t>정답 → 다음 단계</a:t>
            </a:r>
          </a:p>
        </p:txBody>
      </p:sp>
      <p:pic>
        <p:nvPicPr>
          <p:cNvPr id="12" name="Picture 11" descr="03_wrong_af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7556" y="1691640"/>
            <a:ext cx="1534058" cy="33198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34676" y="5066363"/>
            <a:ext cx="18998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8A94A6"/>
                </a:solidFill>
                <a:latin typeface="맑은 고딕"/>
              </a:rPr>
              <a:t>오답 → 시간 차감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4A6"/>
                </a:solidFill>
                <a:latin typeface="맑은 고딕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EE6C5"/>
                </a:solidFill>
                <a:latin typeface="맑은 고딕"/>
              </a:rPr>
              <a:t>TECH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8EDF4"/>
                </a:solidFill>
                <a:latin typeface="맑은 고딕"/>
              </a:rPr>
              <a:t>게임 엔진을 쓰지 않은 이유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25400"/>
          </a:xfrm>
          <a:prstGeom prst="rect">
            <a:avLst/>
          </a:prstGeom>
          <a:solidFill>
            <a:srgbClr val="23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E8EDF4"/>
                </a:solidFill>
                <a:latin typeface="맑은 고딕"/>
              </a:rPr>
              <a:t>“이 게임의 화면은 정지된 도형 격자 + 한 번의 입력이다.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E8EDF4"/>
                </a:solidFill>
                <a:latin typeface="맑은 고딕"/>
              </a:rPr>
              <a:t>렌더 루프가 필요 없는 게임에 엔진을 쓰면 엔진의 비용만 남고 이득은 0이다.”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74320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560320"/>
                <a:gridCol w="2560320"/>
                <a:gridCol w="256032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E8EDF4"/>
                          </a:solidFill>
                          <a:latin typeface="맑은 고딕"/>
                        </a:rPr>
                        <a:t>후보</a:t>
                      </a:r>
                    </a:p>
                  </a:txBody>
                  <a:tcPr>
                    <a:solidFill>
                      <a:srgbClr val="232A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E8EDF4"/>
                          </a:solidFill>
                          <a:latin typeface="맑은 고딕"/>
                        </a:rPr>
                        <a:t>최소 전송 크기</a:t>
                      </a:r>
                    </a:p>
                  </a:txBody>
                  <a:tcPr>
                    <a:solidFill>
                      <a:srgbClr val="232A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E8EDF4"/>
                          </a:solidFill>
                          <a:latin typeface="맑은 고딕"/>
                        </a:rPr>
                        <a:t>첫 플레이까지</a:t>
                      </a:r>
                    </a:p>
                  </a:txBody>
                  <a:tcPr>
                    <a:solidFill>
                      <a:srgbClr val="232A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E8EDF4"/>
                          </a:solidFill>
                          <a:latin typeface="맑은 고딕"/>
                        </a:rPr>
                        <a:t>판단</a:t>
                      </a:r>
                    </a:p>
                  </a:txBody>
                  <a:tcPr>
                    <a:solidFill>
                      <a:srgbClr val="232A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8A94A6"/>
                          </a:solidFill>
                          <a:latin typeface="맑은 고딕"/>
                        </a:rPr>
                        <a:t>Vanilla + DOM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8A94A6"/>
                          </a:solidFill>
                          <a:latin typeface="맑은 고딕"/>
                        </a:rPr>
                        <a:t>약 25KB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8A94A6"/>
                          </a:solidFill>
                          <a:latin typeface="맑은 고딕"/>
                        </a:rPr>
                        <a:t>약 0.8초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8A94A6"/>
                          </a:solidFill>
                          <a:latin typeface="맑은 고딕"/>
                        </a:rPr>
                        <a:t>채택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8A94A6"/>
                          </a:solidFill>
                          <a:latin typeface="맑은 고딕"/>
                        </a:rPr>
                        <a:t>PixiJS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8A94A6"/>
                          </a:solidFill>
                          <a:latin typeface="맑은 고딕"/>
                        </a:rPr>
                        <a:t>약 140KB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8A94A6"/>
                          </a:solidFill>
                          <a:latin typeface="맑은 고딕"/>
                        </a:rPr>
                        <a:t>약 1.8초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8A94A6"/>
                          </a:solidFill>
                          <a:latin typeface="맑은 고딕"/>
                        </a:rPr>
                        <a:t>과함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8A94A6"/>
                          </a:solidFill>
                          <a:latin typeface="맑은 고딕"/>
                        </a:rPr>
                        <a:t>Phaser 3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8A94A6"/>
                          </a:solidFill>
                          <a:latin typeface="맑은 고딕"/>
                        </a:rPr>
                        <a:t>약 450KB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8A94A6"/>
                          </a:solidFill>
                          <a:latin typeface="맑은 고딕"/>
                        </a:rPr>
                        <a:t>약 3.0초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8A94A6"/>
                          </a:solidFill>
                          <a:latin typeface="맑은 고딕"/>
                        </a:rPr>
                        <a:t>목표 위반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8A94A6"/>
                          </a:solidFill>
                          <a:latin typeface="맑은 고딕"/>
                        </a:rPr>
                        <a:t>Unity WebGL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8A94A6"/>
                          </a:solidFill>
                          <a:latin typeface="맑은 고딕"/>
                        </a:rPr>
                        <a:t>15MB+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8A94A6"/>
                          </a:solidFill>
                          <a:latin typeface="맑은 고딕"/>
                        </a:rPr>
                        <a:t>약 15초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8A94A6"/>
                          </a:solidFill>
                          <a:latin typeface="맑은 고딕"/>
                        </a:rPr>
                        <a:t>치명적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2578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E8EDF4"/>
                </a:solidFill>
                <a:latin typeface="맑은 고딕"/>
              </a:rPr>
              <a:t>▸ 이미지 파일 0개 — 미묘한 차이를 1px·3° 단위로 정확히 제어해야 난이도가 성립.</a:t>
            </a:r>
          </a:p>
          <a:p>
            <a:pPr lvl="1">
              <a:spcAft>
                <a:spcPts val="1000"/>
              </a:spcAft>
            </a:pPr>
            <a:r>
              <a:rPr sz="1300">
                <a:solidFill>
                  <a:srgbClr val="8A94A6"/>
                </a:solidFill>
                <a:latin typeface="맑은 고딕"/>
              </a:rPr>
              <a:t>· 래스터 이미지는 축소 과정에서 차이가 뭉개지거나 노이즈가 생겨 불공정한 실패를 만든다.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4A6"/>
                </a:solidFill>
                <a:latin typeface="맑은 고딕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EE6C5"/>
                </a:solidFill>
                <a:latin typeface="맑은 고딕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8EDF4"/>
                </a:solidFill>
                <a:latin typeface="맑은 고딕"/>
              </a:rPr>
              <a:t>13개 모듈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25400"/>
          </a:xfrm>
          <a:prstGeom prst="rect">
            <a:avLst/>
          </a:prstGeom>
          <a:solidFill>
            <a:srgbClr val="23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2606040" cy="105156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l"/>
            <a:r>
              <a:rPr sz="1600" b="1">
                <a:solidFill>
                  <a:srgbClr val="5EE6C5"/>
                </a:solidFill>
                <a:latin typeface="맑은 고딕"/>
              </a:rPr>
              <a:t>game.js</a:t>
            </a:r>
          </a:p>
          <a:p>
            <a:pPr algn="l"/>
            <a:r>
              <a:rPr sz="1200">
                <a:solidFill>
                  <a:srgbClr val="8A94A6"/>
                </a:solidFill>
                <a:latin typeface="맑은 고딕"/>
              </a:rPr>
              <a:t>상태 머신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0712" y="1737360"/>
            <a:ext cx="2606040" cy="105156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l"/>
            <a:r>
              <a:rPr sz="1600" b="1">
                <a:solidFill>
                  <a:srgbClr val="5EE6C5"/>
                </a:solidFill>
                <a:latin typeface="맑은 고딕"/>
              </a:rPr>
              <a:t>rng.js</a:t>
            </a:r>
          </a:p>
          <a:p>
            <a:pPr algn="l"/>
            <a:r>
              <a:rPr sz="1200">
                <a:solidFill>
                  <a:srgbClr val="8A94A6"/>
                </a:solidFill>
                <a:latin typeface="맑은 고딕"/>
              </a:rPr>
              <a:t>시드 난수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737360"/>
            <a:ext cx="2606040" cy="105156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l"/>
            <a:r>
              <a:rPr sz="1600" b="1">
                <a:solidFill>
                  <a:srgbClr val="5EE6C5"/>
                </a:solidFill>
                <a:latin typeface="맑은 고딕"/>
              </a:rPr>
              <a:t>stage.js</a:t>
            </a:r>
          </a:p>
          <a:p>
            <a:pPr algn="l"/>
            <a:r>
              <a:rPr sz="1200">
                <a:solidFill>
                  <a:srgbClr val="8A94A6"/>
                </a:solidFill>
                <a:latin typeface="맑은 고딕"/>
              </a:rPr>
              <a:t>스테이지 생성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51976" y="1737360"/>
            <a:ext cx="2606040" cy="105156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l"/>
            <a:r>
              <a:rPr sz="1600" b="1">
                <a:solidFill>
                  <a:srgbClr val="5EE6C5"/>
                </a:solidFill>
                <a:latin typeface="맑은 고딕"/>
              </a:rPr>
              <a:t>render.js</a:t>
            </a:r>
          </a:p>
          <a:p>
            <a:pPr algn="l"/>
            <a:r>
              <a:rPr sz="1200">
                <a:solidFill>
                  <a:srgbClr val="8A94A6"/>
                </a:solidFill>
                <a:latin typeface="맑은 고딕"/>
              </a:rPr>
              <a:t>DOM 그리드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53512"/>
            <a:ext cx="2606040" cy="105156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l"/>
            <a:r>
              <a:rPr sz="1600" b="1">
                <a:solidFill>
                  <a:srgbClr val="5EE6C5"/>
                </a:solidFill>
                <a:latin typeface="맑은 고딕"/>
              </a:rPr>
              <a:t>input.js</a:t>
            </a:r>
          </a:p>
          <a:p>
            <a:pPr algn="l"/>
            <a:r>
              <a:rPr sz="1200">
                <a:solidFill>
                  <a:srgbClr val="8A94A6"/>
                </a:solidFill>
                <a:latin typeface="맑은 고딕"/>
              </a:rPr>
              <a:t>입력 처리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2953512"/>
            <a:ext cx="2606040" cy="105156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l"/>
            <a:r>
              <a:rPr sz="1600" b="1">
                <a:solidFill>
                  <a:srgbClr val="5EE6C5"/>
                </a:solidFill>
                <a:latin typeface="맑은 고딕"/>
              </a:rPr>
              <a:t>timer.js</a:t>
            </a:r>
          </a:p>
          <a:p>
            <a:pPr algn="l"/>
            <a:r>
              <a:rPr sz="1200">
                <a:solidFill>
                  <a:srgbClr val="8A94A6"/>
                </a:solidFill>
                <a:latin typeface="맑은 고딕"/>
              </a:rPr>
              <a:t>rAF 루프 1개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953512"/>
            <a:ext cx="2606040" cy="105156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l"/>
            <a:r>
              <a:rPr sz="1600" b="1">
                <a:solidFill>
                  <a:srgbClr val="5EE6C5"/>
                </a:solidFill>
                <a:latin typeface="맑은 고딕"/>
              </a:rPr>
              <a:t>save.js</a:t>
            </a:r>
          </a:p>
          <a:p>
            <a:pPr algn="l"/>
            <a:r>
              <a:rPr sz="1200">
                <a:solidFill>
                  <a:srgbClr val="8A94A6"/>
                </a:solidFill>
                <a:latin typeface="맑은 고딕"/>
              </a:rPr>
              <a:t>손상 복구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51976" y="2953512"/>
            <a:ext cx="2606040" cy="105156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l"/>
            <a:r>
              <a:rPr sz="1600" b="1">
                <a:solidFill>
                  <a:srgbClr val="5EE6C5"/>
                </a:solidFill>
                <a:latin typeface="맑은 고딕"/>
              </a:rPr>
              <a:t>daily.js</a:t>
            </a:r>
          </a:p>
          <a:p>
            <a:pPr algn="l"/>
            <a:r>
              <a:rPr sz="1200">
                <a:solidFill>
                  <a:srgbClr val="8A94A6"/>
                </a:solidFill>
                <a:latin typeface="맑은 고딕"/>
              </a:rPr>
              <a:t>오늘의 문제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69664"/>
            <a:ext cx="2606040" cy="105156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l"/>
            <a:r>
              <a:rPr sz="1600" b="1">
                <a:solidFill>
                  <a:srgbClr val="5EE6C5"/>
                </a:solidFill>
                <a:latin typeface="맑은 고딕"/>
              </a:rPr>
              <a:t>card.js</a:t>
            </a:r>
          </a:p>
          <a:p>
            <a:pPr algn="l"/>
            <a:r>
              <a:rPr sz="1200">
                <a:solidFill>
                  <a:srgbClr val="8A94A6"/>
                </a:solidFill>
                <a:latin typeface="맑은 고딕"/>
              </a:rPr>
              <a:t>결과 카드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10712" y="4169664"/>
            <a:ext cx="2606040" cy="105156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l"/>
            <a:r>
              <a:rPr sz="1600" b="1">
                <a:solidFill>
                  <a:srgbClr val="5EE6C5"/>
                </a:solidFill>
                <a:latin typeface="맑은 고딕"/>
              </a:rPr>
              <a:t>share.js</a:t>
            </a:r>
          </a:p>
          <a:p>
            <a:pPr algn="l"/>
            <a:r>
              <a:rPr sz="1200">
                <a:solidFill>
                  <a:srgbClr val="8A94A6"/>
                </a:solidFill>
                <a:latin typeface="맑은 고딕"/>
              </a:rPr>
              <a:t>공유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4169664"/>
            <a:ext cx="2606040" cy="105156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l"/>
            <a:r>
              <a:rPr sz="1600" b="1">
                <a:solidFill>
                  <a:srgbClr val="5EE6C5"/>
                </a:solidFill>
                <a:latin typeface="맑은 고딕"/>
              </a:rPr>
              <a:t>audio.js</a:t>
            </a:r>
          </a:p>
          <a:p>
            <a:pPr algn="l"/>
            <a:r>
              <a:rPr sz="1200">
                <a:solidFill>
                  <a:srgbClr val="8A94A6"/>
                </a:solidFill>
                <a:latin typeface="맑은 고딕"/>
              </a:rPr>
              <a:t>합성음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1976" y="4169664"/>
            <a:ext cx="2606040" cy="105156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l"/>
            <a:r>
              <a:rPr sz="1600" b="1">
                <a:solidFill>
                  <a:srgbClr val="5EE6C5"/>
                </a:solidFill>
                <a:latin typeface="맑은 고딕"/>
              </a:rPr>
              <a:t>logger.js</a:t>
            </a:r>
          </a:p>
          <a:p>
            <a:pPr algn="l"/>
            <a:r>
              <a:rPr sz="1200">
                <a:solidFill>
                  <a:srgbClr val="8A94A6"/>
                </a:solidFill>
                <a:latin typeface="맑은 고딕"/>
              </a:rPr>
              <a:t>플레이 기록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864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8A94A6"/>
                </a:solidFill>
                <a:latin typeface="맑은 고딕"/>
              </a:rPr>
              <a:t>▸ 설계 원칙 3가지 — rAF 루프 앱 전체 1개 · DOM 노드 최초 1회 생성 후 재사용 · 현재 판 상태는 저장하지 않음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4A6"/>
                </a:solidFill>
                <a:latin typeface="맑은 고딕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B454"/>
                </a:solidFill>
                <a:latin typeface="맑은 고딕"/>
              </a:rPr>
              <a:t>문제 발견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8EDF4"/>
                </a:solidFill>
                <a:latin typeface="맑은 고딕"/>
              </a:rPr>
              <a:t>같은 링크인데 기기마다 다른 문제가 나왔다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25400"/>
          </a:xfrm>
          <a:prstGeom prst="rect">
            <a:avLst/>
          </a:prstGeom>
          <a:solidFill>
            <a:srgbClr val="23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6B6B"/>
                </a:solidFill>
                <a:latin typeface="맑은 고딕"/>
              </a:rPr>
              <a:t>BEFORE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8A94A6"/>
                </a:solidFill>
                <a:latin typeface="맑은 고딕"/>
              </a:rPr>
              <a:t>• 격자 칸 수를 화면 크기에 맞춰 계산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8A94A6"/>
                </a:solidFill>
                <a:latin typeface="맑은 고딕"/>
              </a:rPr>
              <a:t>• 1280px → 6×8=48칸, 375px → 4×6=24칸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8A94A6"/>
                </a:solidFill>
                <a:latin typeface="맑은 고딕"/>
              </a:rPr>
              <a:t>• 정답 인덱스까지 달라짐 → '오늘의 문제' 성립 불가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6916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5EE6C5"/>
                </a:solidFill>
                <a:latin typeface="맑은 고딕"/>
              </a:rPr>
              <a:t>AFTER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E8EDF4"/>
                </a:solidFill>
                <a:latin typeface="맑은 고딕"/>
              </a:rPr>
              <a:t>• 그리드를 스테이지 번호로만 결정 (화면 크기 무관)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E8EDF4"/>
                </a:solidFill>
                <a:latin typeface="맑은 고딕"/>
              </a:rPr>
              <a:t>• 상한 4×6=24칸 고정 (360px에서도 44px 터치 보장)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E8EDF4"/>
                </a:solidFill>
                <a:latin typeface="맑은 고딕"/>
              </a:rPr>
              <a:t>• 같은 시드 25스테이지 → 완전 일치 (실측)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A94A6"/>
                </a:solidFill>
                <a:latin typeface="맑은 고딕"/>
              </a:rPr>
              <a:t>교훈: 되돌리기 비싼 결함일수록 일찍 찾아야 한다 — 수정 규모는 코드 3줄이었다.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4A6"/>
                </a:solidFill>
                <a:latin typeface="맑은 고딕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B454"/>
                </a:solidFill>
                <a:latin typeface="맑은 고딕"/>
              </a:rPr>
              <a:t>문제 발견 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8EDF4"/>
                </a:solidFill>
                <a:latin typeface="맑은 고딕"/>
              </a:rPr>
              <a:t>통과하던 검사가 사실 아무것도 검사하지 않고 있었다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25400"/>
          </a:xfrm>
          <a:prstGeom prst="rect">
            <a:avLst/>
          </a:prstGeom>
          <a:solidFill>
            <a:srgbClr val="23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6B6B"/>
                </a:solidFill>
                <a:latin typeface="맑은 고딕"/>
              </a:rPr>
              <a:t>BEFORE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8A94A6"/>
                </a:solidFill>
                <a:latin typeface="맑은 고딕"/>
              </a:rPr>
              <a:t>• 가로 넘침 검사: scrollWidth &gt; innerWidth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8A94A6"/>
                </a:solidFill>
                <a:latin typeface="맑은 고딕"/>
              </a:rPr>
              <a:t>• CSS에 overflow-x:hidden이 걸려 있어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8A94A6"/>
                </a:solidFill>
                <a:latin typeface="맑은 고딕"/>
              </a:rPr>
              <a:t>• 넘쳐도 항상 false → '검사 통과'가 거짓 신호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6916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5EE6C5"/>
                </a:solidFill>
                <a:latin typeface="맑은 고딕"/>
              </a:rPr>
              <a:t>AFTER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E8EDF4"/>
                </a:solidFill>
                <a:latin typeface="맑은 고딕"/>
              </a:rPr>
              <a:t>• 게임판 좌표를 뷰포트 경계와 직접 비교하도록 변경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E8EDF4"/>
                </a:solidFill>
                <a:latin typeface="맑은 고딕"/>
              </a:rPr>
              <a:t>• 390×844에서 11스테이지 전 구간 재측정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E8EDF4"/>
                </a:solidFill>
                <a:latin typeface="맑은 고딕"/>
              </a:rPr>
              <a:t>• 게임판 16~374px, 실제로 넘침 없음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A94A6"/>
                </a:solidFill>
                <a:latin typeface="맑은 고딕"/>
              </a:rPr>
              <a:t>교훈: 초록불을 믿기 전에 그 검사가 빨간불이 될 수 있는지 먼저 확인해야 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4A6"/>
                </a:solidFill>
                <a:latin typeface="맑은 고딕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B454"/>
                </a:solidFill>
                <a:latin typeface="맑은 고딕"/>
              </a:rPr>
              <a:t>문제 발견 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8EDF4"/>
                </a:solidFill>
                <a:latin typeface="맑은 고딕"/>
              </a:rPr>
              <a:t>화면에 내놓은 난이도 손잡이가 거의 작동하지 않았다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25400"/>
          </a:xfrm>
          <a:prstGeom prst="rect">
            <a:avLst/>
          </a:prstGeom>
          <a:solidFill>
            <a:srgbClr val="23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6B6B"/>
                </a:solidFill>
                <a:latin typeface="맑은 고딕"/>
              </a:rPr>
              <a:t>BEFORE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8A94A6"/>
                </a:solidFill>
                <a:latin typeface="맑은 고딕"/>
              </a:rPr>
              <a:t>• 난이도 T를 '제한 시간' 계수에만 연결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8A94A6"/>
                </a:solidFill>
                <a:latin typeface="맑은 고딕"/>
              </a:rPr>
              <a:t>• 자동 플레이 30판: T 3.6→5.4(50%↑)에도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8A94A6"/>
                </a:solidFill>
                <a:latin typeface="맑은 고딕"/>
              </a:rPr>
              <a:t>• 도달 단계 중앙값 21.5→20.0 (1.5단계 차이뿐)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6916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5EE6C5"/>
                </a:solidFill>
                <a:latin typeface="맑은 고딕"/>
              </a:rPr>
              <a:t>AFTER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E8EDF4"/>
                </a:solidFill>
                <a:latin typeface="맑은 고딕"/>
              </a:rPr>
              <a:t>• 원인: 시간이 부족해지는 시점(30단계)이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E8EDF4"/>
                </a:solidFill>
                <a:latin typeface="맑은 고딕"/>
              </a:rPr>
              <a:t>• 판이 끝나는 시점(20~25단계)보다 늦었다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E8EDF4"/>
                </a:solidFill>
                <a:latin typeface="맑은 고딕"/>
              </a:rPr>
              <a:t>• 손잡이를 '차이 곡선'으로 이동 → 18~25%p 차이로 개선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A94A6"/>
                </a:solidFill>
                <a:latin typeface="맑은 고딕"/>
              </a:rPr>
              <a:t>교훈: 값을 만들었으면 흔들어보고 결과가 실제로 움직이는지 재봐야 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4A6"/>
                </a:solidFill>
                <a:latin typeface="맑은 고딕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EE6C5"/>
                </a:solidFill>
                <a:latin typeface="맑은 고딕"/>
              </a:rPr>
              <a:t>CARD 2 · PC 숨은 검사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8EDF4"/>
                </a:solidFill>
                <a:latin typeface="맑은 고딕"/>
              </a:rPr>
              <a:t>검사표 — 7/7 통과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25400"/>
          </a:xfrm>
          <a:prstGeom prst="rect">
            <a:avLst/>
          </a:prstGeom>
          <a:solidFill>
            <a:srgbClr val="23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657600"/>
                <a:gridCol w="3291840"/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E8EDF4"/>
                          </a:solidFill>
                          <a:latin typeface="맑은 고딕"/>
                        </a:rPr>
                        <a:t>검사 조건</a:t>
                      </a:r>
                    </a:p>
                  </a:txBody>
                  <a:tcPr>
                    <a:solidFill>
                      <a:srgbClr val="232A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E8EDF4"/>
                          </a:solidFill>
                          <a:latin typeface="맑은 고딕"/>
                        </a:rPr>
                        <a:t>예상 결과</a:t>
                      </a:r>
                    </a:p>
                  </a:txBody>
                  <a:tcPr>
                    <a:solidFill>
                      <a:srgbClr val="232A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E8EDF4"/>
                          </a:solidFill>
                          <a:latin typeface="맑은 고딕"/>
                        </a:rPr>
                        <a:t>실제 결과</a:t>
                      </a:r>
                    </a:p>
                  </a:txBody>
                  <a:tcPr>
                    <a:solidFill>
                      <a:srgbClr val="232A34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8A94A6"/>
                          </a:solidFill>
                          <a:latin typeface="맑은 고딕"/>
                        </a:rPr>
                        <a:t>1366×768 (최악 격자 4×6)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8A94A6"/>
                          </a:solidFill>
                          <a:latin typeface="맑은 고딕"/>
                        </a:rPr>
                        <a:t>잘림·가로 넘침 없음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8A94A6"/>
                          </a:solidFill>
                          <a:latin typeface="맑은 고딕"/>
                        </a:rPr>
                        <a:t>넘침 0, 셀 90px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8A94A6"/>
                          </a:solidFill>
                          <a:latin typeface="맑은 고딕"/>
                        </a:rPr>
                        <a:t>1920×1080 (최악 격자 4×6)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8A94A6"/>
                          </a:solidFill>
                          <a:latin typeface="맑은 고딕"/>
                        </a:rPr>
                        <a:t>게임판 유지, 여백만 증가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8A94A6"/>
                          </a:solidFill>
                          <a:latin typeface="맑은 고딕"/>
                        </a:rPr>
                        <a:t>넘침 0, 셀 132px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8A94A6"/>
                          </a:solidFill>
                          <a:latin typeface="맑은 고딕"/>
                        </a:rPr>
                        <a:t>1366↔1920 창 크기 변경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8A94A6"/>
                          </a:solidFill>
                          <a:latin typeface="맑은 고딕"/>
                        </a:rPr>
                        <a:t>레이아웃 즉시 재계산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8A94A6"/>
                          </a:solidFill>
                          <a:latin typeface="맑은 고딕"/>
                        </a:rPr>
                        <a:t>리사이즈 즉시 반영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8A94A6"/>
                          </a:solidFill>
                          <a:latin typeface="맑은 고딕"/>
                        </a:rPr>
                        <a:t>1초에 10회 연속 클릭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8A94A6"/>
                          </a:solidFill>
                          <a:latin typeface="맑은 고딕"/>
                        </a:rPr>
                        <a:t>조작 1회 = 결과 1회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8A94A6"/>
                          </a:solidFill>
                          <a:latin typeface="맑은 고딕"/>
                        </a:rPr>
                        <a:t>정확히 1스테이지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8A94A6"/>
                          </a:solidFill>
                          <a:latin typeface="맑은 고딕"/>
                        </a:rPr>
                        <a:t>blur(포커스 이탈)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8A94A6"/>
                          </a:solidFill>
                          <a:latin typeface="맑은 고딕"/>
                        </a:rPr>
                        <a:t>자동 일시정지, 시간 보존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8A94A6"/>
                          </a:solidFill>
                          <a:latin typeface="맑은 고딕"/>
                        </a:rPr>
                        <a:t>즉시 전환·재개 확인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8A94A6"/>
                          </a:solidFill>
                          <a:latin typeface="맑은 고딕"/>
                        </a:rPr>
                        <a:t>P키 일시정지 → 재개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8A94A6"/>
                          </a:solidFill>
                          <a:latin typeface="맑은 고딕"/>
                        </a:rPr>
                        <a:t>타이머 정지·복원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8A94A6"/>
                          </a:solidFill>
                          <a:latin typeface="맑은 고딕"/>
                        </a:rPr>
                        <a:t>오차 없이 이어짐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8A94A6"/>
                          </a:solidFill>
                          <a:latin typeface="맑은 고딕"/>
                        </a:rPr>
                        <a:t>10분 연속 실행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8A94A6"/>
                          </a:solidFill>
                          <a:latin typeface="맑은 고딕"/>
                        </a:rPr>
                        <a:t>FPS 유지·메모리 증가 없음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8A94A6"/>
                          </a:solidFill>
                          <a:latin typeface="맑은 고딕"/>
                        </a:rPr>
                        <a:t>PASS (다음 슬라이드)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4A6"/>
                </a:solidFill>
                <a:latin typeface="맑은 고딕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EE6C5"/>
                </a:solidFill>
                <a:latin typeface="맑은 고딕"/>
              </a:rPr>
              <a:t>CARD 2 · 10분 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8EDF4"/>
                </a:solidFill>
                <a:latin typeface="맑은 고딕"/>
              </a:rPr>
              <a:t>10분 연속 자동 진행 — 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25400"/>
          </a:xfrm>
          <a:prstGeom prst="rect">
            <a:avLst/>
          </a:prstGeom>
          <a:solidFill>
            <a:srgbClr val="23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000_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073" y="1691640"/>
            <a:ext cx="1478857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475193" y="4946904"/>
            <a:ext cx="18446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8A94A6"/>
                </a:solidFill>
                <a:latin typeface="맑은 고딕"/>
              </a:rPr>
              <a:t>0분</a:t>
            </a:r>
          </a:p>
        </p:txBody>
      </p:sp>
      <p:pic>
        <p:nvPicPr>
          <p:cNvPr id="9" name="Picture 8" descr="t180_3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970" y="1691640"/>
            <a:ext cx="1478857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74090" y="4946904"/>
            <a:ext cx="18446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8A94A6"/>
                </a:solidFill>
                <a:latin typeface="맑은 고딕"/>
              </a:rPr>
              <a:t>3분</a:t>
            </a:r>
          </a:p>
        </p:txBody>
      </p:sp>
      <p:pic>
        <p:nvPicPr>
          <p:cNvPr id="11" name="Picture 10" descr="t360_6m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5867" y="1691640"/>
            <a:ext cx="1478857" cy="3200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72987" y="4946904"/>
            <a:ext cx="18446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8A94A6"/>
                </a:solidFill>
                <a:latin typeface="맑은 고딕"/>
              </a:rPr>
              <a:t>6분</a:t>
            </a:r>
          </a:p>
        </p:txBody>
      </p:sp>
      <p:pic>
        <p:nvPicPr>
          <p:cNvPr id="13" name="Picture 12" descr="t600_10m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4764" y="1691640"/>
            <a:ext cx="1478857" cy="3200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71884" y="4946904"/>
            <a:ext cx="18446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8A94A6"/>
                </a:solidFill>
                <a:latin typeface="맑은 고딕"/>
              </a:rPr>
              <a:t>10분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257800"/>
            <a:ext cx="2514600" cy="96012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5EE6C5"/>
                </a:solidFill>
                <a:latin typeface="맑은 고딕"/>
              </a:rPr>
              <a:t>DOM 노드
112 → 112
증가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5257800"/>
            <a:ext cx="2514600" cy="96012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5EE6C5"/>
                </a:solidFill>
                <a:latin typeface="맑은 고딕"/>
              </a:rPr>
              <a:t>JS 힙
9.54MB → 9.54MB
증가 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5257800"/>
            <a:ext cx="2514600" cy="96012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5EE6C5"/>
                </a:solidFill>
                <a:latin typeface="맑은 고딕"/>
              </a:rPr>
              <a:t>프레임 드랍
0 / 6002
0.00%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5257800"/>
            <a:ext cx="2514600" cy="96012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5EE6C5"/>
                </a:solidFill>
                <a:latin typeface="맑은 고딕"/>
              </a:rPr>
              <a:t>콘솔 오류
0건
10분 내내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4A6"/>
                </a:solidFill>
                <a:latin typeface="맑은 고딕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EE6C5"/>
                </a:solidFill>
                <a:latin typeface="맑은 고딕"/>
              </a:rPr>
              <a:t>CARD 3 · 데이터 기반 조정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8EDF4"/>
                </a:solidFill>
                <a:latin typeface="맑은 고딕"/>
              </a:rPr>
              <a:t>난이도 T 전/후 비교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25400"/>
          </a:xfrm>
          <a:prstGeom prst="rect">
            <a:avLst/>
          </a:prstGeom>
          <a:solidFill>
            <a:srgbClr val="23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B454"/>
                </a:solidFill>
                <a:latin typeface="맑은 고딕"/>
              </a:rPr>
              <a:t>⚠ 자동 플레이 데이터입니다 — 사람 반응·피로가 빠져 있음을 숨기지 않고 명시합니다.</a:t>
            </a:r>
          </a:p>
        </p:txBody>
      </p:sp>
      <p:pic>
        <p:nvPicPr>
          <p:cNvPr id="8" name="Picture 7" descr="settings_T4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1330972" cy="2880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084064"/>
            <a:ext cx="16967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8A94A6"/>
                </a:solidFill>
                <a:latin typeface="맑은 고딕"/>
              </a:rPr>
              <a:t>T = 4.4 (기존값)</a:t>
            </a:r>
          </a:p>
        </p:txBody>
      </p:sp>
      <p:pic>
        <p:nvPicPr>
          <p:cNvPr id="10" name="Picture 9" descr="result_T4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3972" y="2148840"/>
            <a:ext cx="1330972" cy="2880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91092" y="5084064"/>
            <a:ext cx="16967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8A94A6"/>
                </a:solidFill>
                <a:latin typeface="맑은 고딕"/>
              </a:rPr>
              <a:t>결과 (T=4.4)</a:t>
            </a:r>
          </a:p>
        </p:txBody>
      </p:sp>
      <p:pic>
        <p:nvPicPr>
          <p:cNvPr id="12" name="Picture 11" descr="settings_T5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4984" y="2148840"/>
            <a:ext cx="1330972" cy="2880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42104" y="5084064"/>
            <a:ext cx="16967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8A94A6"/>
                </a:solidFill>
                <a:latin typeface="맑은 고딕"/>
              </a:rPr>
              <a:t>T = 5.4 (비교값)</a:t>
            </a:r>
          </a:p>
        </p:txBody>
      </p:sp>
      <p:pic>
        <p:nvPicPr>
          <p:cNvPr id="14" name="Picture 13" descr="result_T5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5996" y="2148840"/>
            <a:ext cx="1330972" cy="2880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93116" y="5084064"/>
            <a:ext cx="16967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8A94A6"/>
                </a:solidFill>
                <a:latin typeface="맑은 고딕"/>
              </a:rPr>
              <a:t>결과 (T=5.4)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778240" y="2194560"/>
          <a:ext cx="27432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E8EDF4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232A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E8EDF4"/>
                          </a:solidFill>
                          <a:latin typeface="맑은 고딕"/>
                        </a:rPr>
                        <a:t>T=4.4 (전)</a:t>
                      </a:r>
                    </a:p>
                  </a:txBody>
                  <a:tcPr>
                    <a:solidFill>
                      <a:srgbClr val="232A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E8EDF4"/>
                          </a:solidFill>
                          <a:latin typeface="맑은 고딕"/>
                        </a:rPr>
                        <a:t>T=5.4 (후)</a:t>
                      </a:r>
                    </a:p>
                  </a:txBody>
                  <a:tcPr>
                    <a:solidFill>
                      <a:srgbClr val="232A3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8A94A6"/>
                          </a:solidFill>
                          <a:latin typeface="맑은 고딕"/>
                        </a:rPr>
                        <a:t>도달 단계 중앙값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8A94A6"/>
                          </a:solidFill>
                          <a:latin typeface="맑은 고딕"/>
                        </a:rPr>
                        <a:t>21.0단계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8A94A6"/>
                          </a:solidFill>
                          <a:latin typeface="맑은 고딕"/>
                        </a:rPr>
                        <a:t>20.0단계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8A94A6"/>
                          </a:solidFill>
                          <a:latin typeface="맑은 고딕"/>
                        </a:rPr>
                        <a:t>생존 시간 중앙값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8A94A6"/>
                          </a:solidFill>
                          <a:latin typeface="맑은 고딕"/>
                        </a:rPr>
                        <a:t>27.9초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8A94A6"/>
                          </a:solidFill>
                          <a:latin typeface="맑은 고딕"/>
                        </a:rPr>
                        <a:t>25.4초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778240" y="3566160"/>
            <a:ext cx="2743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EE6C5"/>
                </a:solidFill>
                <a:latin typeface="맑은 고딕"/>
              </a:rPr>
              <a:t>최종값: T=4.4 유지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8A94A6"/>
                </a:solidFill>
                <a:latin typeface="맑은 고딕"/>
              </a:rPr>
              <a:t>단계 차이는 작지만 내부 지표(지각 여유)로는 20~25단계 구간에서 18~25%p 차이 확인.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4A6"/>
                </a:solidFill>
                <a:latin typeface="맑은 고딕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EE6C5"/>
                </a:solidFill>
                <a:latin typeface="맑은 고딕"/>
              </a:rPr>
              <a:t>CARD 4 · 저장과 복구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8EDF4"/>
                </a:solidFill>
                <a:latin typeface="맑은 고딕"/>
              </a:rPr>
              <a:t>손상값 6종 — 전부 기본값 복구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25400"/>
          </a:xfrm>
          <a:prstGeom prst="rect">
            <a:avLst/>
          </a:prstGeom>
          <a:solidFill>
            <a:srgbClr val="23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691640" cy="64008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E8EDF4"/>
                </a:solidFill>
                <a:latin typeface="맑은 고딕"/>
              </a:rPr>
              <a:t>정상값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50592" y="1828800"/>
            <a:ext cx="1691640" cy="64008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E8EDF4"/>
                </a:solidFill>
                <a:latin typeface="맑은 고딕"/>
              </a:rPr>
              <a:t>빈 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1104" y="1828800"/>
            <a:ext cx="1691640" cy="64008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E8EDF4"/>
                </a:solidFill>
                <a:latin typeface="맑은 고딕"/>
              </a:rPr>
              <a:t>"abc" (글자만)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71616" y="1828800"/>
            <a:ext cx="1691640" cy="64008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E8EDF4"/>
                </a:solidFill>
                <a:latin typeface="맑은 고딕"/>
              </a:rPr>
              <a:t>필수 항목 누락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8" y="1828800"/>
            <a:ext cx="1691640" cy="64008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E8EDF4"/>
                </a:solidFill>
                <a:latin typeface="맑은 고딕"/>
              </a:rPr>
              <a:t>타입 오류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1828800"/>
            <a:ext cx="1691640" cy="64008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E8EDF4"/>
                </a:solidFill>
                <a:latin typeface="맑은 고딕"/>
              </a:rPr>
              <a:t>배열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34640"/>
            <a:ext cx="10881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8EDF4"/>
                </a:solidFill>
                <a:latin typeface="맑은 고딕"/>
              </a:rPr>
              <a:t>▸ 현재 판(점수·스테이지·타이머)은 저장하지 않는다 → 새 게임에서 자동 초기화</a:t>
            </a:r>
          </a:p>
          <a:p>
            <a:pPr lvl="1">
              <a:spcAft>
                <a:spcPts val="1000"/>
              </a:spcAft>
            </a:pPr>
            <a:r>
              <a:rPr sz="1600">
                <a:solidFill>
                  <a:srgbClr val="8A94A6"/>
                </a:solidFill>
                <a:latin typeface="맑은 고딕"/>
              </a:rPr>
              <a:t>· 초기화 로직을 따로 만들면 반드시 빠뜨리는 항목이 생긴다는 판단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DF4"/>
                </a:solidFill>
                <a:latin typeface="맑은 고딕"/>
              </a:rPr>
              <a:t>▸ 최고 기록·설정만 별도 키로 보존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DF4"/>
                </a:solidFill>
                <a:latin typeface="맑은 고딕"/>
              </a:rPr>
              <a:t>▸ 저장값이 6가지 방식으로 깨져도 콘솔 오류 0건, 항상 기본값으로 정상 실행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4A6"/>
                </a:solidFill>
                <a:latin typeface="맑은 고딕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EE6C5"/>
                </a:solidFill>
                <a:latin typeface="맑은 고딕"/>
              </a:rPr>
              <a:t>CARD 5 · 손맛과 선택권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8EDF4"/>
                </a:solidFill>
                <a:latin typeface="맑은 고딕"/>
              </a:rPr>
              <a:t>효과 + 접근성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25400"/>
          </a:xfrm>
          <a:prstGeom prst="rect">
            <a:avLst/>
          </a:prstGeom>
          <a:solidFill>
            <a:srgbClr val="23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8EDF4"/>
                </a:solidFill>
                <a:latin typeface="맑은 고딕"/>
              </a:rPr>
              <a:t>▸ 정답 선택 시 팝 애니메이션 + 효과음(WebAudio 합성, 파일 0개)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DF4"/>
                </a:solidFill>
                <a:latin typeface="맑은 고딕"/>
              </a:rPr>
              <a:t>▸ 음소거 → 클릭 즉시 무음 전환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DF4"/>
                </a:solidFill>
                <a:latin typeface="맑은 고딕"/>
              </a:rPr>
              <a:t>▸ 움직임 줄이기 → 흔들림·팝 대신 색 점멸로 대체</a:t>
            </a:r>
          </a:p>
          <a:p>
            <a:pPr lvl="1">
              <a:spcAft>
                <a:spcPts val="1000"/>
              </a:spcAft>
            </a:pPr>
            <a:r>
              <a:rPr sz="1600">
                <a:solidFill>
                  <a:srgbClr val="8A94A6"/>
                </a:solidFill>
                <a:latin typeface="맑은 고딕"/>
              </a:rPr>
              <a:t>· 효과를 완전히 없애지 않는 이유: 사건 인지 자체는 유지해야 하기 때문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DF4"/>
                </a:solidFill>
                <a:latin typeface="맑은 고딕"/>
              </a:rPr>
              <a:t>▸ 설정은 즉시 반영, 재시작 불필요</a:t>
            </a:r>
          </a:p>
        </p:txBody>
      </p:sp>
      <p:pic>
        <p:nvPicPr>
          <p:cNvPr id="8" name="Picture 7" descr="06_sound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91640"/>
            <a:ext cx="1943641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6560" y="5952744"/>
            <a:ext cx="230940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8A94A6"/>
                </a:solidFill>
                <a:latin typeface="맑은 고딕"/>
              </a:rPr>
              <a:t>소리 끄기</a:t>
            </a:r>
          </a:p>
        </p:txBody>
      </p:sp>
      <p:pic>
        <p:nvPicPr>
          <p:cNvPr id="10" name="Picture 9" descr="07_motion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121" y="1691640"/>
            <a:ext cx="1943641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30241" y="5952744"/>
            <a:ext cx="230940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8A94A6"/>
                </a:solidFill>
                <a:latin typeface="맑은 고딕"/>
              </a:rPr>
              <a:t>움직임 줄이기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4A6"/>
                </a:solidFill>
                <a:latin typeface="맑은 고딕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EE6C5"/>
                </a:solidFill>
                <a:latin typeface="맑은 고딕"/>
              </a:rPr>
              <a:t>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8EDF4"/>
                </a:solidFill>
                <a:latin typeface="맑은 고딕"/>
              </a:rPr>
              <a:t>결과 공유 — 클릭 한 번, 이미지 즉시 복사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25400"/>
          </a:xfrm>
          <a:prstGeom prst="rect">
            <a:avLst/>
          </a:prstGeom>
          <a:solidFill>
            <a:srgbClr val="23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E8EDF4"/>
                </a:solidFill>
                <a:latin typeface="맑은 고딕"/>
              </a:rPr>
              <a:t>▸ [결과 공유] 클릭 시 우선순위: 네이티브 공유 → 클립보드 이미지 복사 → 폴백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8EDF4"/>
                </a:solidFill>
                <a:latin typeface="맑은 고딕"/>
              </a:rPr>
              <a:t>▸ 데스크탑 대부분은 navigator.share가 없어 예전엔 매번 폴백 3버튼만 노출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8EDF4"/>
                </a:solidFill>
                <a:latin typeface="맑은 고딕"/>
              </a:rPr>
              <a:t>▸ 이제는 결과 카드 이미지를 클립보드에 바로 복사 → Ctrl+V로 즉시 붙여넣기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8A94A6"/>
                </a:solidFill>
                <a:latin typeface="맑은 고딕"/>
              </a:rPr>
              <a:t>· 텍스트(링크)도 같은 클립보드 항목에 함께 담아 이미지 미지원 대상에도 대응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8EDF4"/>
                </a:solidFill>
                <a:latin typeface="맑은 고딕"/>
              </a:rPr>
              <a:t>▸ 부수 발견: #fallback에 [hidden] CSS 누락 — 공유 전에도 폴백 버튼이 항상 보이던 버그 수정</a:t>
            </a:r>
          </a:p>
        </p:txBody>
      </p:sp>
      <p:pic>
        <p:nvPicPr>
          <p:cNvPr id="8" name="Picture 7" descr="09_sha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91640"/>
            <a:ext cx="1943641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6560" y="5952744"/>
            <a:ext cx="230940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8A94A6"/>
                </a:solidFill>
                <a:latin typeface="맑은 고딕"/>
              </a:rPr>
              <a:t>네이티브 공유 없음</a:t>
            </a:r>
          </a:p>
        </p:txBody>
      </p:sp>
      <p:pic>
        <p:nvPicPr>
          <p:cNvPr id="10" name="Picture 9" descr="10_copytext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121" y="1691640"/>
            <a:ext cx="1943641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30241" y="5952744"/>
            <a:ext cx="230940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8A94A6"/>
                </a:solidFill>
                <a:latin typeface="맑은 고딕"/>
              </a:rPr>
              <a:t>복사 안내 문구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4A6"/>
                </a:solidFill>
                <a:latin typeface="맑은 고딕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EE6C5"/>
                </a:solidFill>
                <a:latin typeface="맑은 고딕"/>
              </a:rPr>
              <a:t>AI 3줄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8EDF4"/>
                </a:solidFill>
                <a:latin typeface="맑은 고딕"/>
              </a:rPr>
              <a:t>맡긴 일 · 판단한 일 · 말을 안 들은 일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25400"/>
          </a:xfrm>
          <a:prstGeom prst="rect">
            <a:avLst/>
          </a:prstGeom>
          <a:solidFill>
            <a:srgbClr val="23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2743200" cy="457200"/>
          </a:xfrm>
          <a:prstGeom prst="roundRect">
            <a:avLst/>
          </a:prstGeom>
          <a:solidFill>
            <a:srgbClr val="232A34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>
                <a:solidFill>
                  <a:srgbClr val="5EE6C5"/>
                </a:solidFill>
                <a:latin typeface="맑은 고딕"/>
              </a:rPr>
              <a:t>AI에게 맡긴 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9164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8A94A6"/>
                </a:solidFill>
                <a:latin typeface="맑은 고딕"/>
              </a:rPr>
              <a:t>코드 전체(13개 모듈) 작성과 검증 실행 — 시드 재현성·저장 손상 6종·연타 방지·해상도 등을 직접 측정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54680"/>
            <a:ext cx="2743200" cy="457200"/>
          </a:xfrm>
          <a:prstGeom prst="roundRect">
            <a:avLst/>
          </a:prstGeom>
          <a:solidFill>
            <a:srgbClr val="232A34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>
                <a:solidFill>
                  <a:srgbClr val="5EE6C5"/>
                </a:solidFill>
                <a:latin typeface="맑은 고딕"/>
              </a:rPr>
              <a:t>내가 판단한 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10896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8A94A6"/>
                </a:solidFill>
                <a:latin typeface="맑은 고딕"/>
              </a:rPr>
              <a:t>배포처를 Cloudflare→GitHub Pages로 변경, 단계별 폴더 구성, 스크린샷 3상태 규칙, STEP 6 중단 판단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72000"/>
            <a:ext cx="2743200" cy="457200"/>
          </a:xfrm>
          <a:prstGeom prst="roundRect">
            <a:avLst/>
          </a:prstGeom>
          <a:solidFill>
            <a:srgbClr val="232A34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>
                <a:solidFill>
                  <a:srgbClr val="5EE6C5"/>
                </a:solidFill>
                <a:latin typeface="맑은 고딕"/>
              </a:rPr>
              <a:t>AI 말을 안 들은 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452628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8A94A6"/>
                </a:solidFill>
                <a:latin typeface="맑은 고딕"/>
              </a:rPr>
              <a:t>step2 스크린샷 오류를 직접 열어보고 발견, 제출용 PDF에서 빠진 항목 5개를 찾아냄, 자동 플레이 데이터 오남용 방지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4A6"/>
                </a:solidFill>
                <a:latin typeface="맑은 고딕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EE6C5"/>
                </a:solidFill>
                <a:latin typeface="맑은 고딕"/>
              </a:rPr>
              <a:t>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8EDF4"/>
                </a:solidFill>
                <a:latin typeface="맑은 고딕"/>
              </a:rPr>
              <a:t>실제로 겪은 문제 8건 중 대표 사례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25400"/>
          </a:xfrm>
          <a:prstGeom prst="rect">
            <a:avLst/>
          </a:prstGeom>
          <a:solidFill>
            <a:srgbClr val="23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E8EDF4"/>
                </a:solidFill>
                <a:latin typeface="맑은 고딕"/>
              </a:rPr>
              <a:t>▸ 같은 실수를 세 번 반복 — step2 재촬영 누락 · PDF 스크린샷 5개 누락 · 이모지 깨짐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8A94A6"/>
                </a:solidFill>
                <a:latin typeface="맑은 고딕"/>
              </a:rPr>
              <a:t>· 세 번 다 AI가 아니라 실제로 파일을 열어본 사람이 찾아냈다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8EDF4"/>
                </a:solidFill>
                <a:latin typeface="맑은 고딕"/>
              </a:rPr>
              <a:t>▸ 촬영 도구가 지정 해상도를 무시 → 헤드리스 Chrome CLI에서 Playwright로 교체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8A94A6"/>
                </a:solidFill>
                <a:latin typeface="맑은 고딕"/>
              </a:rPr>
              <a:t>· Playwright 도입으로 첫화면/진행중/종료 3상태 촬영까지 함께 가능해짐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8EDF4"/>
                </a:solidFill>
                <a:latin typeface="맑은 고딕"/>
              </a:rPr>
              <a:t>▸ 제출용 PDF에서 이모지가 네모 상자로 깨짐 → 버튼 라벨에서 이모지 제거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8A94A6"/>
                </a:solidFill>
                <a:latin typeface="맑은 고딕"/>
              </a:rPr>
              <a:t>· '내 환경에선 정상'은 제출 증거에서는 판단 기준이 될 수 없다는 교훈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4A6"/>
                </a:solidFill>
                <a:latin typeface="맑은 고딕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EE6C5"/>
                </a:solidFill>
                <a:latin typeface="맑은 고딕"/>
              </a:rPr>
              <a:t>FINAL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8EDF4"/>
                </a:solidFill>
                <a:latin typeface="맑은 고딕"/>
              </a:rPr>
              <a:t>제출 준비 완료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25400"/>
          </a:xfrm>
          <a:prstGeom prst="rect">
            <a:avLst/>
          </a:prstGeom>
          <a:solidFill>
            <a:srgbClr val="23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194560" y="1737360"/>
          <a:ext cx="7772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468880"/>
                <a:gridCol w="118872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E8EDF4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232A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E8EDF4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>
                    <a:solidFill>
                      <a:srgbClr val="232A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E8EDF4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>
                    <a:solidFill>
                      <a:srgbClr val="232A3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8A94A6"/>
                          </a:solidFill>
                          <a:latin typeface="맑은 고딕"/>
                        </a:rPr>
                        <a:t>카드 1~5 통과 기준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8A94A6"/>
                          </a:solidFill>
                          <a:latin typeface="맑은 고딕"/>
                        </a:rPr>
                        <a:t>5/5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8A94A6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8A94A6"/>
                          </a:solidFill>
                          <a:latin typeface="맑은 고딕"/>
                        </a:rPr>
                        <a:t>학생 자체 점검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8A94A6"/>
                          </a:solidFill>
                          <a:latin typeface="맑은 고딕"/>
                        </a:rPr>
                        <a:t>11/11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8A94A6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8A94A6"/>
                          </a:solidFill>
                          <a:latin typeface="맑은 고딕"/>
                        </a:rPr>
                        <a:t>콘솔 오류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8A94A6"/>
                          </a:solidFill>
                          <a:latin typeface="맑은 고딕"/>
                        </a:rPr>
                        <a:t>0건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8A94A6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8A94A6"/>
                          </a:solidFill>
                          <a:latin typeface="맑은 고딕"/>
                        </a:rPr>
                        <a:t>개인정보·비밀값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8A94A6"/>
                          </a:solidFill>
                          <a:latin typeface="맑은 고딕"/>
                        </a:rPr>
                        <a:t>0건 (실질)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8A94A6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8A94A6"/>
                          </a:solidFill>
                          <a:latin typeface="맑은 고딕"/>
                        </a:rPr>
                        <a:t>10분 연속 실행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8A94A6"/>
                          </a:solidFill>
                          <a:latin typeface="맑은 고딕"/>
                        </a:rPr>
                        <a:t>DOM·힙 증가 0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8A94A6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8A94A6"/>
                          </a:solidFill>
                          <a:latin typeface="맑은 고딕"/>
                        </a:rPr>
                        <a:t>제출물(검증안내서·AI3줄)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8A94A6"/>
                          </a:solidFill>
                          <a:latin typeface="맑은 고딕"/>
                        </a:rPr>
                        <a:t>작성 완료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8A94A6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91440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4A6"/>
                </a:solidFill>
                <a:latin typeface="맑은 고딕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EE6C5"/>
                </a:solidFill>
                <a:latin typeface="맑은 고딕"/>
              </a:rPr>
              <a:t>필수 체크리스트 · 증거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8EDF4"/>
                </a:solidFill>
                <a:latin typeface="맑은 고딕"/>
              </a:rPr>
              <a:t>학생 자체 점검 — 스크린샷 증거 (1~6)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25400"/>
          </a:xfrm>
          <a:prstGeom prst="rect">
            <a:avLst/>
          </a:prstGeom>
          <a:solidFill>
            <a:srgbClr val="23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3657600" cy="2395728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55064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5EE6C5"/>
                </a:solidFill>
                <a:latin typeface="맑은 고딕"/>
              </a:rPr>
              <a:t>1. 시작→종료→재시작</a:t>
            </a:r>
          </a:p>
        </p:txBody>
      </p:sp>
      <p:pic>
        <p:nvPicPr>
          <p:cNvPr id="9" name="Picture 8" descr="01_start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075" y="2057400"/>
            <a:ext cx="845061" cy="1828800"/>
          </a:xfrm>
          <a:prstGeom prst="rect">
            <a:avLst/>
          </a:prstGeom>
        </p:spPr>
      </p:pic>
      <p:pic>
        <p:nvPicPr>
          <p:cNvPr id="10" name="Picture 9" descr="08_gameover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864" y="2057400"/>
            <a:ext cx="845061" cy="18288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251960" y="1600200"/>
            <a:ext cx="3657600" cy="2395728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655064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5EE6C5"/>
                </a:solidFill>
                <a:latin typeface="맑은 고딕"/>
              </a:rPr>
              <a:t>2. 성공·실패 상태 구분</a:t>
            </a:r>
          </a:p>
        </p:txBody>
      </p:sp>
      <p:pic>
        <p:nvPicPr>
          <p:cNvPr id="13" name="Picture 12" descr="02_correct_af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0835" y="2057400"/>
            <a:ext cx="845061" cy="1828800"/>
          </a:xfrm>
          <a:prstGeom prst="rect">
            <a:avLst/>
          </a:prstGeom>
        </p:spPr>
      </p:pic>
      <p:pic>
        <p:nvPicPr>
          <p:cNvPr id="14" name="Picture 13" descr="03_wrong_af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624" y="2057400"/>
            <a:ext cx="845061" cy="1828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046720" y="1600200"/>
            <a:ext cx="3657600" cy="2395728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1655064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5EE6C5"/>
                </a:solidFill>
                <a:latin typeface="맑은 고딕"/>
              </a:rPr>
              <a:t>3. 2해상도 잘림·넘침 없음</a:t>
            </a:r>
          </a:p>
        </p:txBody>
      </p:sp>
      <p:pic>
        <p:nvPicPr>
          <p:cNvPr id="17" name="Picture 16" descr="resolution_1366x76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6449" y="2057400"/>
            <a:ext cx="1664613" cy="935888"/>
          </a:xfrm>
          <a:prstGeom prst="rect">
            <a:avLst/>
          </a:prstGeom>
        </p:spPr>
      </p:pic>
      <p:pic>
        <p:nvPicPr>
          <p:cNvPr id="18" name="Picture 17" descr="resolution_1920x108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0790" y="2057400"/>
            <a:ext cx="1663800" cy="93588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57200" y="4133088"/>
            <a:ext cx="3657600" cy="2395728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187952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5EE6C5"/>
                </a:solidFill>
                <a:latin typeface="맑은 고딕"/>
              </a:rPr>
              <a:t>4. 연속입력·포커스·10분</a:t>
            </a:r>
          </a:p>
        </p:txBody>
      </p:sp>
      <p:pic>
        <p:nvPicPr>
          <p:cNvPr id="21" name="Picture 20" descr="04_pause_af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6075" y="4590288"/>
            <a:ext cx="845061" cy="1828800"/>
          </a:xfrm>
          <a:prstGeom prst="rect">
            <a:avLst/>
          </a:prstGeom>
        </p:spPr>
      </p:pic>
      <p:pic>
        <p:nvPicPr>
          <p:cNvPr id="22" name="Picture 21" descr="t600_10m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40864" y="4590288"/>
            <a:ext cx="845061" cy="18288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251960" y="4133088"/>
            <a:ext cx="3657600" cy="2395728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8" y="4187952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5EE6C5"/>
                </a:solidFill>
                <a:latin typeface="맑은 고딕"/>
              </a:rPr>
              <a:t>5. 콘솔 빨간 오류 0건</a:t>
            </a:r>
          </a:p>
        </p:txBody>
      </p:sp>
      <p:pic>
        <p:nvPicPr>
          <p:cNvPr id="25" name="Picture 24" descr="콘솔오류확인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49672" y="4590288"/>
            <a:ext cx="3062176" cy="16459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361688" y="6263640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A94A6"/>
                </a:solidFill>
                <a:latin typeface="맑은 고딕"/>
              </a:rPr>
              <a:t>사용자 직접 확인 · 최고 16단계·3,242점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133088"/>
            <a:ext cx="3657600" cy="2395728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56448" y="4187952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5EE6C5"/>
                </a:solidFill>
                <a:latin typeface="맑은 고딕"/>
              </a:rPr>
              <a:t>6. 난이도 전/후 10+10</a:t>
            </a:r>
          </a:p>
        </p:txBody>
      </p:sp>
      <p:pic>
        <p:nvPicPr>
          <p:cNvPr id="29" name="Picture 28" descr="result_T4_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75595" y="4590288"/>
            <a:ext cx="845061" cy="1828800"/>
          </a:xfrm>
          <a:prstGeom prst="rect">
            <a:avLst/>
          </a:prstGeom>
        </p:spPr>
      </p:pic>
      <p:pic>
        <p:nvPicPr>
          <p:cNvPr id="30" name="Picture 29" descr="result_T5_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30384" y="4590288"/>
            <a:ext cx="845061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4A6"/>
                </a:solidFill>
                <a:latin typeface="맑은 고딕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EE6C5"/>
                </a:solidFill>
                <a:latin typeface="맑은 고딕"/>
              </a:rPr>
              <a:t>필수 체크리스트 · 증거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8EDF4"/>
                </a:solidFill>
                <a:latin typeface="맑은 고딕"/>
              </a:rPr>
              <a:t>학생 자체 점검 — 스크린샷 증거 (7~11)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25400"/>
          </a:xfrm>
          <a:prstGeom prst="rect">
            <a:avLst/>
          </a:prstGeom>
          <a:solidFill>
            <a:srgbClr val="23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3657600" cy="2395728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55064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5EE6C5"/>
                </a:solidFill>
                <a:latin typeface="맑은 고딕"/>
              </a:rPr>
              <a:t>7. 손상값 → 기본값 실행</a:t>
            </a:r>
          </a:p>
        </p:txBody>
      </p:sp>
      <p:pic>
        <p:nvPicPr>
          <p:cNvPr id="9" name="Picture 8" descr="storage_before_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075" y="2057400"/>
            <a:ext cx="845061" cy="1828800"/>
          </a:xfrm>
          <a:prstGeom prst="rect">
            <a:avLst/>
          </a:prstGeom>
        </p:spPr>
      </p:pic>
      <p:pic>
        <p:nvPicPr>
          <p:cNvPr id="10" name="Picture 9" descr="storage_after_corrupted_still_wor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864" y="2057400"/>
            <a:ext cx="845061" cy="18288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251960" y="1600200"/>
            <a:ext cx="3657600" cy="2395728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655064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5EE6C5"/>
                </a:solidFill>
                <a:latin typeface="맑은 고딕"/>
              </a:rPr>
              <a:t>8. 재시작=초기화, 기록 유지</a:t>
            </a:r>
          </a:p>
        </p:txBody>
      </p:sp>
      <p:pic>
        <p:nvPicPr>
          <p:cNvPr id="13" name="Picture 12" descr="13_restart_bef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0835" y="2057400"/>
            <a:ext cx="845061" cy="1828800"/>
          </a:xfrm>
          <a:prstGeom prst="rect">
            <a:avLst/>
          </a:prstGeom>
        </p:spPr>
      </p:pic>
      <p:pic>
        <p:nvPicPr>
          <p:cNvPr id="14" name="Picture 13" descr="13_restart_af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624" y="2057400"/>
            <a:ext cx="845061" cy="1828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046720" y="1600200"/>
            <a:ext cx="3657600" cy="2395728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1655064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5EE6C5"/>
                </a:solidFill>
                <a:latin typeface="맑은 고딕"/>
              </a:rPr>
              <a:t>9. 효과 줄이기·끄기 작동</a:t>
            </a:r>
          </a:p>
        </p:txBody>
      </p:sp>
      <p:pic>
        <p:nvPicPr>
          <p:cNvPr id="17" name="Picture 16" descr="06_sound_af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5595" y="2057400"/>
            <a:ext cx="845061" cy="1828800"/>
          </a:xfrm>
          <a:prstGeom prst="rect">
            <a:avLst/>
          </a:prstGeom>
        </p:spPr>
      </p:pic>
      <p:pic>
        <p:nvPicPr>
          <p:cNvPr id="18" name="Picture 17" descr="07_motion_aft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0384" y="2057400"/>
            <a:ext cx="845061" cy="18288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57200" y="4133088"/>
            <a:ext cx="3657600" cy="2395728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187952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5EE6C5"/>
                </a:solidFill>
                <a:latin typeface="맑은 고딕"/>
              </a:rPr>
              <a:t>10. 개인정보·비밀값 0건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636008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A94A6"/>
                </a:solidFill>
                <a:latin typeface="맑은 고딕"/>
              </a:rPr>
              <a:t>저장소 전수 grep 검사 — stulss(공개 계정명) 외 유출 0건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4133088"/>
            <a:ext cx="3657600" cy="2395728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1688" y="4187952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5EE6C5"/>
                </a:solidFill>
                <a:latin typeface="맑은 고딕"/>
              </a:rPr>
              <a:t>11. 위 1~10 모두 완료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4636008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A94A6"/>
                </a:solidFill>
                <a:latin typeface="맑은 고딕"/>
              </a:rPr>
              <a:t>카드 1~5 통과기준 5/5 · 학생 자체 점검 11/11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4A6"/>
                </a:solidFill>
                <a:latin typeface="맑은 고딕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E8EDF4"/>
                </a:solidFill>
                <a:latin typeface="맑은 고딕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5EE6C5"/>
                </a:solidFill>
                <a:latin typeface="맑은 고딕"/>
              </a:rPr>
              <a:t>▶ 플레이: https://stulss.github.io/odd-one-out/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8A94A6"/>
                </a:solidFill>
                <a:latin typeface="맑은 고딕"/>
              </a:rPr>
              <a:t>소스: https://github.com/stulss/odd-one-out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